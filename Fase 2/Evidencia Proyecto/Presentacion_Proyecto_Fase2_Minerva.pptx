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6830" cy="1097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270662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606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A716A"/>
                </a:solidFill>
                <a:latin typeface="Segoe UI"/>
              </a:rPr>
              <a:t>PROYECTO APT · CAPSTONE · 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0">
                <a:solidFill>
                  <a:srgbClr val="1D1A17"/>
                </a:solidFill>
                <a:latin typeface="Segoe UI Black"/>
              </a:rPr>
              <a:t>Minerva </a:t>
            </a:r>
            <a:r>
              <a:rPr sz="5800" b="0">
                <a:solidFill>
                  <a:srgbClr val="C2185B"/>
                </a:solidFill>
                <a:latin typeface="Segoe UI Black"/>
              </a:rP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443E"/>
                </a:solidFill>
                <a:latin typeface="Segoe UI"/>
              </a:rPr>
              <a:t>Avance del desarrollo: tienda en línea, panel de administración y atención automática por la web e Instagram.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443E"/>
                </a:solidFill>
                <a:latin typeface="Segoe UI"/>
              </a:rPr>
              <a:t>Grupo 8</a:t>
            </a:r>
            <a:r>
              <a:rPr sz="1400" b="0">
                <a:solidFill>
                  <a:srgbClr val="4A443E"/>
                </a:solidFill>
                <a:latin typeface="Segoe UI"/>
              </a:rPr>
              <a:t> · CAPSTONE_003D        Diego Gutiérrez · Diego Román · Paulina Solís      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RESUMEN DEL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Qué logramos y hacia dónde vamos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D1A17"/>
                </a:solidFill>
                <a:latin typeface="Segoe UI"/>
              </a:rPr>
              <a:t>Resumen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50592"/>
            <a:ext cx="4754880" cy="3355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443E"/>
                </a:solidFill>
                <a:latin typeface="Segoe UI"/>
              </a:rPr>
              <a:t>Aplicando Scrum, en el </a:t>
            </a:r>
            <a:r>
              <a:rPr sz="1600" b="1">
                <a:solidFill>
                  <a:srgbClr val="4A443E"/>
                </a:solidFill>
                <a:latin typeface="Segoe UI"/>
              </a:rPr>
              <a:t>Sprint 1</a:t>
            </a:r>
            <a:r>
              <a:rPr sz="1600" b="0">
                <a:solidFill>
                  <a:srgbClr val="4A443E"/>
                </a:solidFill>
                <a:latin typeface="Segoe UI"/>
              </a:rPr>
              <a:t> configuramos el entorno, diseñamos la arquitectura base y las interfaces preliminares. En el </a:t>
            </a:r>
            <a:r>
              <a:rPr sz="1600" b="1">
                <a:solidFill>
                  <a:srgbClr val="4A443E"/>
                </a:solidFill>
                <a:latin typeface="Segoe UI"/>
              </a:rPr>
              <a:t>Sprint 2</a:t>
            </a:r>
            <a:r>
              <a:rPr sz="1600" b="0">
                <a:solidFill>
                  <a:srgbClr val="4A443E"/>
                </a:solidFill>
                <a:latin typeface="Segoe UI"/>
              </a:rPr>
              <a:t> integramos los módulos principales y automatizamos pruebas, obteniendo un </a:t>
            </a:r>
            <a:r>
              <a:rPr sz="1600" b="1">
                <a:solidFill>
                  <a:srgbClr val="4A443E"/>
                </a:solidFill>
                <a:latin typeface="Segoe UI"/>
              </a:rPr>
              <a:t>incremento funcional</a:t>
            </a:r>
            <a:r>
              <a:rPr sz="1600" b="0">
                <a:solidFill>
                  <a:srgbClr val="4A443E"/>
                </a:solidFill>
                <a:latin typeface="Segoe UI"/>
              </a:rPr>
              <a:t> validado en la Sprint Review.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443E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443E"/>
                </a:solidFill>
                <a:latin typeface="Segoe UI"/>
              </a:rPr>
              <a:t>Hoy el sitio está </a:t>
            </a:r>
            <a:r>
              <a:rPr sz="1600" b="1">
                <a:solidFill>
                  <a:srgbClr val="4A443E"/>
                </a:solidFill>
                <a:latin typeface="Segoe UI"/>
              </a:rPr>
              <a:t>publicado en producción</a:t>
            </a:r>
            <a:r>
              <a:rPr sz="1600" b="0">
                <a:solidFill>
                  <a:srgbClr val="4A443E"/>
                </a:solidFill>
                <a:latin typeface="Segoe UI"/>
              </a:rPr>
              <a:t> con catálogo, compra, panel de administración y chatbot.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D1A17"/>
                </a:solidFill>
                <a:latin typeface="Segoe UI"/>
              </a:rPr>
              <a:t>Objetivo general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50592"/>
            <a:ext cx="4754880" cy="3355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443E"/>
                </a:solidFill>
                <a:latin typeface="Segoe UI"/>
              </a:rPr>
              <a:t>Desarrollar e implementar la solución integral de Minerva con un enfoque ágil, iterativo e incremental.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D1A17"/>
                </a:solidFill>
                <a:latin typeface="Segoe UI"/>
              </a:rPr>
              <a:t>Objetivos específicos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A443E"/>
                </a:solidFill>
                <a:latin typeface="Segoe UI"/>
              </a:rPr>
              <a:t>•  Definir y priorizar historias de usuario por valor de negocio.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A443E"/>
                </a:solidFill>
                <a:latin typeface="Segoe UI"/>
              </a:rPr>
              <a:t>•  Ejecutar los Sprints para desarrollar e integrar los módulos.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A443E"/>
                </a:solidFill>
                <a:latin typeface="Segoe UI"/>
              </a:rPr>
              <a:t>•  Validar cada incremento con demostraciones a los involucrados.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METODOLOGÍA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Scrum en Sprints de 2 semanas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Artefactos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50592"/>
            <a:ext cx="2926080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Product Backlog: requisitos priorizados.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Sprint Backlog: tareas del sprint activo.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Incremento: entregable funcional.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Ceremonias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50592"/>
            <a:ext cx="2926080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Planificación de cada iteración.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Daily Scrum para detectar bloqueos.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Sprint Review (demostración).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Retrospectiva y mejora continua.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Resguardo de la 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50592"/>
            <a:ext cx="2926080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Definición de Listo: revisión de código, pruebas y documentación.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Monitoreo de los registros del sitio en producción.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Pruebas de los chatbots con consultas reales.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3776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D1A17"/>
                </a:solidFill>
                <a:latin typeface="Segoe UI"/>
              </a:rPr>
              <a:t>Stack del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07492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443E"/>
                </a:solidFill>
                <a:latin typeface="Segoe UI"/>
              </a:rPr>
              <a:t>Next.js + React (web y panel) · Supabase / PostgreSQL (datos y autenticación) · Vercel (publicación) · Gemini (asistente) · API de Instagram · Resend (correos)</a:t>
            </a:r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EVIDENCIAS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Sitio y base de datos en producción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54406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6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10512"/>
            <a:ext cx="5294376" cy="25975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4764024"/>
            <a:ext cx="51114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A443E"/>
                </a:solidFill>
                <a:latin typeface="Segoe UI"/>
              </a:rPr>
              <a:t>Imagen 1.</a:t>
            </a:r>
            <a:r>
              <a:rPr sz="1150" b="0">
                <a:solidFill>
                  <a:srgbClr val="4A443E"/>
                </a:solidFill>
                <a:latin typeface="Segoe UI"/>
              </a:rPr>
              <a:t> Registro del sitio publicado: respuestas 200 en portada, catálogo, cuenta y fichas de producto, sin errores.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51663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6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10512"/>
            <a:ext cx="5020056" cy="2404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3952" y="4764024"/>
            <a:ext cx="4837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A443E"/>
                </a:solidFill>
                <a:latin typeface="Segoe UI"/>
              </a:rPr>
              <a:t>Imagen 2.</a:t>
            </a:r>
            <a:r>
              <a:rPr sz="1150" b="0">
                <a:solidFill>
                  <a:srgbClr val="4A443E"/>
                </a:solidFill>
                <a:latin typeface="Segoe UI"/>
              </a:rPr>
              <a:t> Supabase en producción: tablas de catálogo, clientes, pedidos, personalización, variantes y cupones.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4068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321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4A443E"/>
                </a:solidFill>
                <a:latin typeface="Segoe UI"/>
              </a:rPr>
              <a:t>Funcionalidades disponibles: </a:t>
            </a:r>
            <a:r>
              <a:rPr sz="1350" b="0">
                <a:solidFill>
                  <a:srgbClr val="4A443E"/>
                </a:solidFill>
                <a:latin typeface="Segoe UI"/>
              </a:rPr>
              <a:t>catálogo y personalización · carrito y checkout con cupones, envío y boleta/factura · seguimiento con código de Paket · panel de administración instalable en el teléfono.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EVIDENCIAS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Atención automática en la web e Instagram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32918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6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3.jpeg"/>
          <p:cNvPicPr>
            <a:picLocks noChangeAspect="1"/>
          </p:cNvPicPr>
          <p:nvPr/>
        </p:nvPicPr>
        <p:blipFill>
          <a:blip r:embed="rId2"/>
          <a:srcRect b="17772"/>
          <a:stretch>
            <a:fillRect/>
          </a:stretch>
        </p:blipFill>
        <p:spPr>
          <a:xfrm>
            <a:off x="758952" y="1810512"/>
            <a:ext cx="3145536" cy="3721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5678424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A443E"/>
                </a:solidFill>
                <a:latin typeface="Segoe UI"/>
              </a:rPr>
              <a:t>Imagen 3.</a:t>
            </a:r>
            <a:r>
              <a:rPr sz="1150" b="0">
                <a:solidFill>
                  <a:srgbClr val="4A443E"/>
                </a:solidFill>
                <a:latin typeface="Segoe UI"/>
              </a:rPr>
              <a:t> Chatbot de la web: responde precios con enlaces y deriva a WhatsApp.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737360"/>
            <a:ext cx="73152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6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4.png"/>
          <p:cNvPicPr>
            <a:picLocks noChangeAspect="1"/>
          </p:cNvPicPr>
          <p:nvPr/>
        </p:nvPicPr>
        <p:blipFill>
          <a:blip r:embed="rId3"/>
          <a:srcRect b="19991"/>
          <a:stretch>
            <a:fillRect/>
          </a:stretch>
        </p:blipFill>
        <p:spPr>
          <a:xfrm>
            <a:off x="4233672" y="1810512"/>
            <a:ext cx="7168896" cy="3721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25112" y="5678424"/>
            <a:ext cx="69860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A443E"/>
                </a:solidFill>
                <a:latin typeface="Segoe UI"/>
              </a:rPr>
              <a:t>Imagen 4.</a:t>
            </a:r>
            <a:r>
              <a:rPr sz="1150" b="0">
                <a:solidFill>
                  <a:srgbClr val="4A443E"/>
                </a:solidFill>
                <a:latin typeface="Segoe UI"/>
              </a:rPr>
              <a:t> Chatbot en Instagram, el canal de ventas actual: modelos, precios y enlaces directos a la tienda.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MONITOREO DEL PLAN DE TRABAJO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Estado de las actividades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78308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1371600"/>
                <a:gridCol w="283464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716A"/>
                          </a:solidFill>
                          <a:latin typeface="Segoe UI"/>
                        </a:rPr>
                        <a:t>Competencia</a:t>
                      </a:r>
                    </a:p>
                  </a:txBody>
                  <a:tcPr marL="109728" marR="109728" anchor="ctr">
                    <a:solidFill>
                      <a:srgbClr val="F2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716A"/>
                          </a:solidFill>
                          <a:latin typeface="Segoe UI"/>
                        </a:rPr>
                        <a:t>Actividad</a:t>
                      </a:r>
                    </a:p>
                  </a:txBody>
                  <a:tcPr marL="109728" marR="109728" anchor="ctr">
                    <a:solidFill>
                      <a:srgbClr val="F2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716A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 marL="109728" marR="109728" anchor="ctr">
                    <a:solidFill>
                      <a:srgbClr val="F2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716A"/>
                          </a:solidFill>
                          <a:latin typeface="Segoe UI"/>
                        </a:rPr>
                        <a:t>Ajuste</a:t>
                      </a:r>
                    </a:p>
                  </a:txBody>
                  <a:tcPr marL="109728" marR="109728" anchor="ctr">
                    <a:solidFill>
                      <a:srgbClr val="F2ECE4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Gestión ágil / Scrum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Levantamiento de requerimientos y priorización del Product Backlog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6B51"/>
                          </a:solidFill>
                          <a:latin typeface="Segoe UI"/>
                        </a:rPr>
                        <a:t>Completado</a:t>
                      </a:r>
                    </a:p>
                  </a:txBody>
                  <a:tcPr marL="109728" marR="109728" anchor="ctr">
                    <a:solidFill>
                      <a:srgbClr val="E3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Sin ajustes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Arquitectura e infraestructura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Configuración de entornos, base de datos e infraestructura base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6B51"/>
                          </a:solidFill>
                          <a:latin typeface="Segoe UI"/>
                        </a:rPr>
                        <a:t>Completado</a:t>
                      </a:r>
                    </a:p>
                  </a:txBody>
                  <a:tcPr marL="109728" marR="109728" anchor="ctr">
                    <a:solidFill>
                      <a:srgbClr val="E3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Reorganización de subtareas en el mismo Sprint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Desarrollo e integración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Módulos principales y lógica de negocio (Sprint 2)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A5A00"/>
                          </a:solidFill>
                          <a:latin typeface="Segoe UI"/>
                        </a:rPr>
                        <a:t>En curso</a:t>
                      </a:r>
                    </a:p>
                  </a:txBody>
                  <a:tcPr marL="109728" marR="109728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Re-estimación de puntos y redistribución de tareas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Calidad y pruebas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Pruebas unitarias, integración continua y validación de la DoD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A5A00"/>
                          </a:solidFill>
                          <a:latin typeface="Segoe UI"/>
                        </a:rPr>
                        <a:t>En curso</a:t>
                      </a:r>
                    </a:p>
                  </a:txBody>
                  <a:tcPr marL="109728" marR="109728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Casos de prueba adicionales en la Definición de Listo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Validación y cierre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Sprint Review con el incremento y Retrospectiva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D4F8C"/>
                          </a:solidFill>
                          <a:latin typeface="Segoe UI"/>
                        </a:rPr>
                        <a:t>Ajustada</a:t>
                      </a:r>
                    </a:p>
                  </a:txBody>
                  <a:tcPr marL="109728" marR="10972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443E"/>
                          </a:solidFill>
                          <a:latin typeface="Segoe UI"/>
                        </a:rPr>
                        <a:t>Observaciones del cliente al Product Backlog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2031950" cy="8229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1949" y="6775704"/>
            <a:ext cx="2031950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2031950" cy="82296"/>
          </a:xfrm>
          <a:prstGeom prst="rect">
            <a:avLst/>
          </a:prstGeom>
          <a:solidFill>
            <a:srgbClr val="F6B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75704"/>
            <a:ext cx="2031950" cy="8229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6775704"/>
            <a:ext cx="2031950" cy="82296"/>
          </a:xfrm>
          <a:prstGeom prst="rect">
            <a:avLst/>
          </a:prstGeom>
          <a:solidFill>
            <a:srgbClr val="7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45" y="6775704"/>
            <a:ext cx="2031950" cy="82296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603504"/>
            <a:ext cx="292608" cy="36576"/>
          </a:xfrm>
          <a:prstGeom prst="rect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716A"/>
                </a:solidFill>
                <a:latin typeface="Segoe UI"/>
              </a:rPr>
              <a:t>AJUSTES A PARTIR DEL MONITOREO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1D1A17"/>
                </a:solidFill>
                <a:latin typeface="Segoe UI Black"/>
              </a:rPr>
              <a:t>Aprendizajes y próximos pasos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Lo que facilitó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50592"/>
            <a:ext cx="2926080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443E"/>
                </a:solidFill>
                <a:latin typeface="Segoe UI"/>
              </a:rPr>
              <a:t>Scrum dio visibilidad y adaptabilidad: el Daily Scrum resolvió bloqueos a tiempo y los Sprints cortos mantuvieron un ritmo de entrega constante.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8308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Dificultades y ajustes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50592"/>
            <a:ext cx="2926080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443E"/>
                </a:solidFill>
                <a:latin typeface="Segoe UI"/>
              </a:rPr>
              <a:t>Hubo inconsistencias técnicas y demoras en accesos a servicios externos. Se reforzó el refinamiento del backlog y la integración se dividió en </a:t>
            </a:r>
            <a:r>
              <a:rPr sz="1500" b="1">
                <a:solidFill>
                  <a:srgbClr val="4A443E"/>
                </a:solidFill>
                <a:latin typeface="Segoe UI"/>
              </a:rPr>
              <a:t>dos historias más pequeñas</a:t>
            </a:r>
            <a:r>
              <a:rPr sz="1500" b="0">
                <a:solidFill>
                  <a:srgbClr val="4A443E"/>
                </a:solidFill>
                <a:latin typeface="Segoe UI"/>
              </a:rPr>
              <a:t>, sin eliminar actividades.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A17"/>
                </a:solidFill>
                <a:latin typeface="Segoe UI"/>
              </a:rPr>
              <a:t>Próximos pasos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50592"/>
            <a:ext cx="2926080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Despliegue final y pruebas de carga (fase final).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Bloque de soporte técnico al inicio del próximo Sprint.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Reforzar las pruebas automatizadas.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A443E"/>
                </a:solidFill>
                <a:latin typeface="Segoe UI"/>
              </a:rPr>
              <a:t>•  Pago en línea y correos a clientes.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D1A17"/>
                </a:solidFill>
                <a:latin typeface="Segoe UI Black"/>
              </a:rPr>
              <a:t>Gracias · </a:t>
            </a:r>
            <a:r>
              <a:rPr sz="3000" b="0">
                <a:solidFill>
                  <a:srgbClr val="C2185B"/>
                </a:solidFill>
                <a:latin typeface="Segoe UI Black"/>
              </a:rPr>
              <a:t>¿Preguntas?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19088"/>
            <a:ext cx="235480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645566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Minerva E-Commerce · Grupo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5566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16A"/>
                </a:solidFill>
                <a:latin typeface="Segoe U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